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D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731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Clinix – Hospital Management System  |  Summer Internship, Exposure India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 band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Kicker"/>
          <p:cNvSpPr txBox="1"/>
          <p:nvPr/>
        </p:nvSpPr>
        <p:spPr>
          <a:xfrm>
            <a:off x="91440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SUMMER INTERNSHIP REPORT  |  IT3711</a:t>
            </a:r>
            <a:endParaRPr lang="en-US" sz="1300" dirty="0"/>
          </a:p>
        </p:txBody>
      </p:sp>
      <p:sp>
        <p:nvSpPr>
          <p:cNvPr id="4" name="Title"/>
          <p:cNvSpPr txBox="1"/>
          <p:nvPr/>
        </p:nvSpPr>
        <p:spPr>
          <a:xfrm>
            <a:off x="914400" y="12344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Clinix</a:t>
            </a:r>
            <a:endParaRPr lang="en-US" sz="6000" dirty="0"/>
          </a:p>
        </p:txBody>
      </p:sp>
      <p:sp>
        <p:nvSpPr>
          <p:cNvPr id="5" name="Subtitle"/>
          <p:cNvSpPr txBox="1"/>
          <p:nvPr/>
        </p:nvSpPr>
        <p:spPr>
          <a:xfrm>
            <a:off x="914400" y="2148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Hospital Management System</a:t>
            </a:r>
            <a:endParaRPr lang="en-US" sz="2800" dirty="0"/>
          </a:p>
        </p:txBody>
      </p:sp>
      <p:sp>
        <p:nvSpPr>
          <p:cNvPr id="6" name="Tagline"/>
          <p:cNvSpPr txBox="1"/>
          <p:nvPr/>
        </p:nvSpPr>
        <p:spPr>
          <a:xfrm>
            <a:off x="91440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 full-stack PHP &amp; MySQL web application with an Android WebView app</a:t>
            </a:r>
            <a:endParaRPr lang="en-US" sz="1500" dirty="0"/>
          </a:p>
        </p:txBody>
      </p:sp>
      <p:sp>
        <p:nvSpPr>
          <p:cNvPr id="7" name="Divider"/>
          <p:cNvSpPr/>
          <p:nvPr/>
        </p:nvSpPr>
        <p:spPr>
          <a:xfrm>
            <a:off x="914400" y="3383280"/>
            <a:ext cx="182880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8" name="Presenter"/>
          <p:cNvSpPr txBox="1"/>
          <p:nvPr/>
        </p:nvSpPr>
        <p:spPr>
          <a:xfrm>
            <a:off x="914400" y="35661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Bhavadharani B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Reg. No. 810023205088  |  B.Tech Information Technology, VII Semester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University College of Engineering (BIT Campus), Anna University, Tiruchirappalli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Introduction &amp; Objectives</a:t>
            </a:r>
            <a:endParaRPr lang="en-US" sz="2800" dirty="0"/>
          </a:p>
        </p:txBody>
      </p:sp>
      <p:sp>
        <p:nvSpPr>
          <p:cNvPr id="3" name="Problem card"/>
          <p:cNvSpPr/>
          <p:nvPr/>
        </p:nvSpPr>
        <p:spPr>
          <a:xfrm>
            <a:off x="457200" y="1097280"/>
            <a:ext cx="3840480" cy="3429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roblem accent"/>
          <p:cNvSpPr/>
          <p:nvPr/>
        </p:nvSpPr>
        <p:spPr>
          <a:xfrm>
            <a:off x="457200" y="1097280"/>
            <a:ext cx="64008" cy="34290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Problem title"/>
          <p:cNvSpPr txBox="1"/>
          <p:nvPr/>
        </p:nvSpPr>
        <p:spPr>
          <a:xfrm>
            <a:off x="64008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The Problem</a:t>
            </a:r>
            <a:endParaRPr lang="en-US" sz="1400" dirty="0"/>
          </a:p>
        </p:txBody>
      </p:sp>
      <p:sp>
        <p:nvSpPr>
          <p:cNvPr id="6" name="Problem body"/>
          <p:cNvSpPr txBox="1"/>
          <p:nvPr/>
        </p:nvSpPr>
        <p:spPr>
          <a:xfrm>
            <a:off x="640080" y="1536192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Hospitals relying on paper registers and phone calls face double-booked slots, delayed responses, redundant data and hard-to-trace patient histories.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Clinix replaces this with one centralized, role-based platform for patients, doctors and administrators, available 24/7 on web and mobile.</a:t>
            </a:r>
            <a:endParaRPr lang="en-US" sz="1200" dirty="0"/>
          </a:p>
        </p:txBody>
      </p:sp>
      <p:sp>
        <p:nvSpPr>
          <p:cNvPr id="7" name="Obj heading"/>
          <p:cNvSpPr txBox="1"/>
          <p:nvPr/>
        </p:nvSpPr>
        <p:spPr>
          <a:xfrm>
            <a:off x="4572000" y="1097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Project Objectives</a:t>
            </a:r>
            <a:endParaRPr lang="en-US" sz="1600" dirty="0"/>
          </a:p>
        </p:txBody>
      </p:sp>
      <p:sp>
        <p:nvSpPr>
          <p:cNvPr id="8" name="Objectives"/>
          <p:cNvSpPr txBox="1"/>
          <p:nvPr/>
        </p:nvSpPr>
        <p:spPr>
          <a:xfrm>
            <a:off x="4572000" y="1508760"/>
            <a:ext cx="4114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Build with PHP 8, HTML/CSS/JS, Bootstrap 5 and MySQL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Secure registration and login with Bcrypt hashing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Doctor discovery filtered by specialization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Appointment booking that prevents double-booking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Accept / reject / complete workflow for doctors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Admin control: doctors, patients, analytics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Wrap the web app in an Android WebView app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Company Profile: Exposure India</a:t>
            </a:r>
            <a:endParaRPr lang="en-US" sz="2800" dirty="0"/>
          </a:p>
        </p:txBody>
      </p:sp>
      <p:sp>
        <p:nvSpPr>
          <p:cNvPr id="3" name="About card"/>
          <p:cNvSpPr/>
          <p:nvPr/>
        </p:nvSpPr>
        <p:spPr>
          <a:xfrm>
            <a:off x="457200" y="1097280"/>
            <a:ext cx="4023360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bout accent"/>
          <p:cNvSpPr/>
          <p:nvPr/>
        </p:nvSpPr>
        <p:spPr>
          <a:xfrm>
            <a:off x="457200" y="1097280"/>
            <a:ext cx="64008" cy="1463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About title"/>
          <p:cNvSpPr txBox="1"/>
          <p:nvPr/>
        </p:nvSpPr>
        <p:spPr>
          <a:xfrm>
            <a:off x="64008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About</a:t>
            </a:r>
            <a:endParaRPr lang="en-US" sz="1400" dirty="0"/>
          </a:p>
        </p:txBody>
      </p:sp>
      <p:sp>
        <p:nvSpPr>
          <p:cNvPr id="6" name="About body"/>
          <p:cNvSpPr txBox="1"/>
          <p:nvPr/>
        </p:nvSpPr>
        <p:spPr>
          <a:xfrm>
            <a:off x="640080" y="1536192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Creative digital agency in Thanjavur, Tamil Nadu: branding, digital marketing, website development, social media and print. Rated 4.8 on Google Reviews.</a:t>
            </a:r>
            <a:endParaRPr lang="en-US" sz="1200" dirty="0"/>
          </a:p>
        </p:txBody>
      </p:sp>
      <p:sp>
        <p:nvSpPr>
          <p:cNvPr id="7" name="Role card"/>
          <p:cNvSpPr/>
          <p:nvPr/>
        </p:nvSpPr>
        <p:spPr>
          <a:xfrm>
            <a:off x="457200" y="2743200"/>
            <a:ext cx="4023360" cy="1783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Role accent"/>
          <p:cNvSpPr/>
          <p:nvPr/>
        </p:nvSpPr>
        <p:spPr>
          <a:xfrm>
            <a:off x="457200" y="2743200"/>
            <a:ext cx="64008" cy="17830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Role title"/>
          <p:cNvSpPr txBox="1"/>
          <p:nvPr/>
        </p:nvSpPr>
        <p:spPr>
          <a:xfrm>
            <a:off x="640080" y="2834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My Internship Role</a:t>
            </a:r>
            <a:endParaRPr lang="en-US" sz="1400" dirty="0"/>
          </a:p>
        </p:txBody>
      </p:sp>
      <p:sp>
        <p:nvSpPr>
          <p:cNvPr id="10" name="Role body"/>
          <p:cNvSpPr txBox="1"/>
          <p:nvPr/>
        </p:nvSpPr>
        <p:spPr>
          <a:xfrm>
            <a:off x="640080" y="3182112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Inducted into the web development team to build Clinix using PHP Full Stack: Bootstrap 5 interfaces, PHP 8 services, MySQL database and an Android app.</a:t>
            </a:r>
            <a:endParaRPr lang="en-US" sz="1200" dirty="0"/>
          </a:p>
        </p:txBody>
      </p:sp>
      <p:sp>
        <p:nvSpPr>
          <p:cNvPr id="11" name="Tech heading"/>
          <p:cNvSpPr txBox="1"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Technologies Used</a:t>
            </a:r>
            <a:endParaRPr lang="en-US" sz="1600" dirty="0"/>
          </a:p>
        </p:txBody>
      </p:sp>
      <p:sp>
        <p:nvSpPr>
          <p:cNvPr id="12" name="Tech list"/>
          <p:cNvSpPr txBox="1"/>
          <p:nvPr/>
        </p:nvSpPr>
        <p:spPr>
          <a:xfrm>
            <a:off x="4754880" y="150876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Backend: PHP 8, MySQLi prepared statements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Database: MySQL / phpMyAdmin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Frontend: HTML5, CSS3, JavaScript, Bootstrap 5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Mobile: Android (Java), WebView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Tools: VS Code, Android Studio, XAMPP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Version control: Git and GitHub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Existing vs Proposed System</a:t>
            </a:r>
            <a:endParaRPr lang="en-US" sz="2800" dirty="0"/>
          </a:p>
        </p:txBody>
      </p:sp>
      <p:sp>
        <p:nvSpPr>
          <p:cNvPr id="3" name="Existing card"/>
          <p:cNvSpPr/>
          <p:nvPr/>
        </p:nvSpPr>
        <p:spPr>
          <a:xfrm>
            <a:off x="457200" y="1097280"/>
            <a:ext cx="4023360" cy="3429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Existing accent"/>
          <p:cNvSpPr/>
          <p:nvPr/>
        </p:nvSpPr>
        <p:spPr>
          <a:xfrm>
            <a:off x="457200" y="1097280"/>
            <a:ext cx="64008" cy="34290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Existing title"/>
          <p:cNvSpPr txBox="1"/>
          <p:nvPr/>
        </p:nvSpPr>
        <p:spPr>
          <a:xfrm>
            <a:off x="64008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Existing: Manual Process</a:t>
            </a:r>
            <a:endParaRPr lang="en-US" sz="1400" dirty="0"/>
          </a:p>
        </p:txBody>
      </p:sp>
      <p:sp>
        <p:nvSpPr>
          <p:cNvPr id="6" name="Existing body"/>
          <p:cNvSpPr txBox="1"/>
          <p:nvPr/>
        </p:nvSpPr>
        <p:spPr>
          <a:xfrm>
            <a:off x="640080" y="1536192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7" name="Existing list"/>
          <p:cNvSpPr txBox="1"/>
          <p:nvPr/>
        </p:nvSpPr>
        <p:spPr>
          <a:xfrm>
            <a:off x="685800" y="155448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Appointments in registers: double-booking and lost records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No real-time doctor availability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Fragmented patient records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Service only in working hours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No digital dashboard for doctors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Slow, error-prone admin statistics</a:t>
            </a:r>
            <a:endParaRPr lang="en-US" sz="1250" dirty="0"/>
          </a:p>
        </p:txBody>
      </p:sp>
      <p:sp>
        <p:nvSpPr>
          <p:cNvPr id="8" name="Proposed card"/>
          <p:cNvSpPr/>
          <p:nvPr/>
        </p:nvSpPr>
        <p:spPr>
          <a:xfrm>
            <a:off x="4663440" y="1097280"/>
            <a:ext cx="4023360" cy="3429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roposed accent"/>
          <p:cNvSpPr/>
          <p:nvPr/>
        </p:nvSpPr>
        <p:spPr>
          <a:xfrm>
            <a:off x="4663440" y="1097280"/>
            <a:ext cx="64008" cy="34290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Proposed title"/>
          <p:cNvSpPr txBox="1"/>
          <p:nvPr/>
        </p:nvSpPr>
        <p:spPr>
          <a:xfrm>
            <a:off x="484632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Proposed: Clinix</a:t>
            </a:r>
            <a:endParaRPr lang="en-US" sz="1400" dirty="0"/>
          </a:p>
        </p:txBody>
      </p:sp>
      <p:sp>
        <p:nvSpPr>
          <p:cNvPr id="11" name="Proposed body"/>
          <p:cNvSpPr txBox="1"/>
          <p:nvPr/>
        </p:nvSpPr>
        <p:spPr>
          <a:xfrm>
            <a:off x="4846320" y="1536192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2" name="Proposed list"/>
          <p:cNvSpPr txBox="1"/>
          <p:nvPr/>
        </p:nvSpPr>
        <p:spPr>
          <a:xfrm>
            <a:off x="4892040" y="155448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Single centralized MySQL database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Self-service patient portal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Database-level duplicate-booking check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One-click triage: Pending → Accepted → Completed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Admin dashboard with CRUD and live counts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Android app with the same features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System Architecture</a:t>
            </a:r>
            <a:endParaRPr lang="en-US" sz="2800" dirty="0"/>
          </a:p>
        </p:txBody>
      </p:sp>
      <p:sp>
        <p:nvSpPr>
          <p:cNvPr id="3" name="Users"/>
          <p:cNvSpPr/>
          <p:nvPr/>
        </p:nvSpPr>
        <p:spPr>
          <a:xfrm>
            <a:off x="457200" y="1280160"/>
            <a:ext cx="1737360" cy="137160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Users text"/>
          <p:cNvSpPr txBox="1"/>
          <p:nvPr/>
        </p:nvSpPr>
        <p:spPr>
          <a:xfrm>
            <a:off x="548640" y="128016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Users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Patient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Doctor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Admin</a:t>
            </a:r>
            <a:endParaRPr lang="en-US" sz="1300" dirty="0"/>
          </a:p>
        </p:txBody>
      </p:sp>
      <p:sp>
        <p:nvSpPr>
          <p:cNvPr id="5" name="Frontend"/>
          <p:cNvSpPr/>
          <p:nvPr/>
        </p:nvSpPr>
        <p:spPr>
          <a:xfrm>
            <a:off x="2651760" y="1280160"/>
            <a:ext cx="1828800" cy="1371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Frontend text"/>
          <p:cNvSpPr txBox="1"/>
          <p:nvPr/>
        </p:nvSpPr>
        <p:spPr>
          <a:xfrm>
            <a:off x="2743200" y="12801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Frontend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HTML, CSS, JS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Bootstrap 5</a:t>
            </a:r>
            <a:endParaRPr lang="en-US" sz="1300" dirty="0"/>
          </a:p>
        </p:txBody>
      </p:sp>
      <p:sp>
        <p:nvSpPr>
          <p:cNvPr id="7" name="Backend"/>
          <p:cNvSpPr/>
          <p:nvPr/>
        </p:nvSpPr>
        <p:spPr>
          <a:xfrm>
            <a:off x="4937760" y="1280160"/>
            <a:ext cx="1737360" cy="13716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Backend text"/>
          <p:cNvSpPr txBox="1"/>
          <p:nvPr/>
        </p:nvSpPr>
        <p:spPr>
          <a:xfrm>
            <a:off x="5029200" y="128016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Backend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PHP 8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Sessions, RBAC</a:t>
            </a:r>
            <a:endParaRPr lang="en-US" sz="1300" dirty="0"/>
          </a:p>
        </p:txBody>
      </p:sp>
      <p:sp>
        <p:nvSpPr>
          <p:cNvPr id="9" name="Database"/>
          <p:cNvSpPr/>
          <p:nvPr/>
        </p:nvSpPr>
        <p:spPr>
          <a:xfrm>
            <a:off x="7132320" y="1280160"/>
            <a:ext cx="1554480" cy="13716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Database text"/>
          <p:cNvSpPr txBox="1"/>
          <p:nvPr/>
        </p:nvSpPr>
        <p:spPr>
          <a:xfrm>
            <a:off x="7223760" y="12801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Database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MySQL</a:t>
            </a:r>
            <a:endParaRPr lang="en-US" sz="1300" dirty="0"/>
          </a:p>
        </p:txBody>
      </p:sp>
      <p:sp>
        <p:nvSpPr>
          <p:cNvPr id="11" name="Arrow 1"/>
          <p:cNvSpPr/>
          <p:nvPr/>
        </p:nvSpPr>
        <p:spPr>
          <a:xfrm>
            <a:off x="2194560" y="1965960"/>
            <a:ext cx="4572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2" name="Arrow 2"/>
          <p:cNvSpPr/>
          <p:nvPr/>
        </p:nvSpPr>
        <p:spPr>
          <a:xfrm>
            <a:off x="4480560" y="1965960"/>
            <a:ext cx="4572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3" name="Arrow 3"/>
          <p:cNvSpPr/>
          <p:nvPr/>
        </p:nvSpPr>
        <p:spPr>
          <a:xfrm>
            <a:off x="6675120" y="1965960"/>
            <a:ext cx="4572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4" name="Android"/>
          <p:cNvSpPr/>
          <p:nvPr/>
        </p:nvSpPr>
        <p:spPr>
          <a:xfrm>
            <a:off x="2651760" y="3200400"/>
            <a:ext cx="1828800" cy="1005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Android text"/>
          <p:cNvSpPr txBox="1"/>
          <p:nvPr/>
        </p:nvSpPr>
        <p:spPr>
          <a:xfrm>
            <a:off x="2743200" y="32004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Android App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Java + WebView</a:t>
            </a:r>
            <a:endParaRPr lang="en-US" sz="1300" dirty="0"/>
          </a:p>
        </p:txBody>
      </p:sp>
      <p:sp>
        <p:nvSpPr>
          <p:cNvPr id="16" name="Arrow 4"/>
          <p:cNvSpPr/>
          <p:nvPr/>
        </p:nvSpPr>
        <p:spPr>
          <a:xfrm>
            <a:off x="3566160" y="2651760"/>
            <a:ext cx="0" cy="54864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headEnd type="triangle"/>
            <a:tailEnd type="triangle"/>
          </a:ln>
        </p:spPr>
      </p:sp>
      <p:sp>
        <p:nvSpPr>
          <p:cNvPr id="17" name="Architecture note"/>
          <p:cNvSpPr txBox="1"/>
          <p:nvPr/>
        </p:nvSpPr>
        <p:spPr>
          <a:xfrm>
            <a:off x="4937760" y="320040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Modular design: Public pages, Patient, Doctor and Admin portals sit in separate directories. Role checks (checkRole) guard every page; the Android shell reuses the same server logic, so web and mobile stay at 100% feature parity.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Key Modules &amp; Capabilities</a:t>
            </a:r>
            <a:endParaRPr lang="en-US" sz="2800" dirty="0"/>
          </a:p>
        </p:txBody>
      </p:sp>
      <p:sp>
        <p:nvSpPr>
          <p:cNvPr id="3" name="Module 1 card"/>
          <p:cNvSpPr/>
          <p:nvPr/>
        </p:nvSpPr>
        <p:spPr>
          <a:xfrm>
            <a:off x="457200" y="1097280"/>
            <a:ext cx="2651760" cy="1645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Module 1 accent"/>
          <p:cNvSpPr/>
          <p:nvPr/>
        </p:nvSpPr>
        <p:spPr>
          <a:xfrm>
            <a:off x="457200" y="1097280"/>
            <a:ext cx="64008" cy="1645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Module 1 title"/>
          <p:cNvSpPr txBox="1"/>
          <p:nvPr/>
        </p:nvSpPr>
        <p:spPr>
          <a:xfrm>
            <a:off x="64008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User Authentication</a:t>
            </a:r>
            <a:endParaRPr lang="en-US" sz="1400" dirty="0"/>
          </a:p>
        </p:txBody>
      </p:sp>
      <p:sp>
        <p:nvSpPr>
          <p:cNvPr id="6" name="Module 1 body"/>
          <p:cNvSpPr txBox="1"/>
          <p:nvPr/>
        </p:nvSpPr>
        <p:spPr>
          <a:xfrm>
            <a:off x="640080" y="1536192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Role-based login for Patient, Doctor and Admin; Bcrypt-hashed passwords.</a:t>
            </a:r>
            <a:endParaRPr lang="en-US" sz="1200" dirty="0"/>
          </a:p>
        </p:txBody>
      </p:sp>
      <p:sp>
        <p:nvSpPr>
          <p:cNvPr id="7" name="Module 2 card"/>
          <p:cNvSpPr/>
          <p:nvPr/>
        </p:nvSpPr>
        <p:spPr>
          <a:xfrm>
            <a:off x="3291840" y="1097280"/>
            <a:ext cx="2651760" cy="1645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Module 2 accent"/>
          <p:cNvSpPr/>
          <p:nvPr/>
        </p:nvSpPr>
        <p:spPr>
          <a:xfrm>
            <a:off x="3291840" y="1097280"/>
            <a:ext cx="64008" cy="16459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Module 2 title"/>
          <p:cNvSpPr txBox="1"/>
          <p:nvPr/>
        </p:nvSpPr>
        <p:spPr>
          <a:xfrm>
            <a:off x="347472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Doctor Discovery</a:t>
            </a:r>
            <a:endParaRPr lang="en-US" sz="1400" dirty="0"/>
          </a:p>
        </p:txBody>
      </p:sp>
      <p:sp>
        <p:nvSpPr>
          <p:cNvPr id="10" name="Module 2 body"/>
          <p:cNvSpPr txBox="1"/>
          <p:nvPr/>
        </p:nvSpPr>
        <p:spPr>
          <a:xfrm>
            <a:off x="3474720" y="1536192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Browse doctor cards and filter by name or specialization.</a:t>
            </a:r>
            <a:endParaRPr lang="en-US" sz="1200" dirty="0"/>
          </a:p>
        </p:txBody>
      </p:sp>
      <p:sp>
        <p:nvSpPr>
          <p:cNvPr id="11" name="Module 3 card"/>
          <p:cNvSpPr/>
          <p:nvPr/>
        </p:nvSpPr>
        <p:spPr>
          <a:xfrm>
            <a:off x="6126480" y="1097280"/>
            <a:ext cx="2651760" cy="1645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odule 3 accent"/>
          <p:cNvSpPr/>
          <p:nvPr/>
        </p:nvSpPr>
        <p:spPr>
          <a:xfrm>
            <a:off x="6126480" y="1097280"/>
            <a:ext cx="64008" cy="16459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Module 3 title"/>
          <p:cNvSpPr txBox="1"/>
          <p:nvPr/>
        </p:nvSpPr>
        <p:spPr>
          <a:xfrm>
            <a:off x="630936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Appointment Booking</a:t>
            </a:r>
            <a:endParaRPr lang="en-US" sz="1400" dirty="0"/>
          </a:p>
        </p:txBody>
      </p:sp>
      <p:sp>
        <p:nvSpPr>
          <p:cNvPr id="14" name="Module 3 body"/>
          <p:cNvSpPr txBox="1"/>
          <p:nvPr/>
        </p:nvSpPr>
        <p:spPr>
          <a:xfrm>
            <a:off x="6309360" y="1536192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Choose doctor, date and time; duplicates are blocked automatically.</a:t>
            </a:r>
            <a:endParaRPr lang="en-US" sz="1200" dirty="0"/>
          </a:p>
        </p:txBody>
      </p:sp>
      <p:sp>
        <p:nvSpPr>
          <p:cNvPr id="15" name="Module 4 card"/>
          <p:cNvSpPr/>
          <p:nvPr/>
        </p:nvSpPr>
        <p:spPr>
          <a:xfrm>
            <a:off x="457200" y="2880360"/>
            <a:ext cx="2651760" cy="1645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Module 4 accent"/>
          <p:cNvSpPr/>
          <p:nvPr/>
        </p:nvSpPr>
        <p:spPr>
          <a:xfrm>
            <a:off x="457200" y="2880360"/>
            <a:ext cx="64008" cy="16459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Module 4 title"/>
          <p:cNvSpPr txBox="1"/>
          <p:nvPr/>
        </p:nvSpPr>
        <p:spPr>
          <a:xfrm>
            <a:off x="640080" y="2971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Doctor Portal</a:t>
            </a:r>
            <a:endParaRPr lang="en-US" sz="1400" dirty="0"/>
          </a:p>
        </p:txBody>
      </p:sp>
      <p:sp>
        <p:nvSpPr>
          <p:cNvPr id="18" name="Module 4 body"/>
          <p:cNvSpPr txBox="1"/>
          <p:nvPr/>
        </p:nvSpPr>
        <p:spPr>
          <a:xfrm>
            <a:off x="640080" y="3319272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Daily schedule, stat cards, accept / reject / complete actions.</a:t>
            </a:r>
            <a:endParaRPr lang="en-US" sz="1200" dirty="0"/>
          </a:p>
        </p:txBody>
      </p:sp>
      <p:sp>
        <p:nvSpPr>
          <p:cNvPr id="19" name="Module 5 card"/>
          <p:cNvSpPr/>
          <p:nvPr/>
        </p:nvSpPr>
        <p:spPr>
          <a:xfrm>
            <a:off x="3291840" y="2880360"/>
            <a:ext cx="2651760" cy="1645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Module 5 accent"/>
          <p:cNvSpPr/>
          <p:nvPr/>
        </p:nvSpPr>
        <p:spPr>
          <a:xfrm>
            <a:off x="3291840" y="2880360"/>
            <a:ext cx="64008" cy="164592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Module 5 title"/>
          <p:cNvSpPr txBox="1"/>
          <p:nvPr/>
        </p:nvSpPr>
        <p:spPr>
          <a:xfrm>
            <a:off x="3474720" y="2971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Admin Panel</a:t>
            </a:r>
            <a:endParaRPr lang="en-US" sz="1400" dirty="0"/>
          </a:p>
        </p:txBody>
      </p:sp>
      <p:sp>
        <p:nvSpPr>
          <p:cNvPr id="22" name="Module 5 body"/>
          <p:cNvSpPr txBox="1"/>
          <p:nvPr/>
        </p:nvSpPr>
        <p:spPr>
          <a:xfrm>
            <a:off x="3474720" y="3319272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Add, edit, delete doctors; view patients and all appointments.</a:t>
            </a:r>
            <a:endParaRPr lang="en-US" sz="1200" dirty="0"/>
          </a:p>
        </p:txBody>
      </p:sp>
      <p:sp>
        <p:nvSpPr>
          <p:cNvPr id="23" name="Module 6 card"/>
          <p:cNvSpPr/>
          <p:nvPr/>
        </p:nvSpPr>
        <p:spPr>
          <a:xfrm>
            <a:off x="6126480" y="2880360"/>
            <a:ext cx="2651760" cy="1645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Module 6 accent"/>
          <p:cNvSpPr/>
          <p:nvPr/>
        </p:nvSpPr>
        <p:spPr>
          <a:xfrm>
            <a:off x="6126480" y="2880360"/>
            <a:ext cx="64008" cy="164592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5" name="Module 6 title"/>
          <p:cNvSpPr txBox="1"/>
          <p:nvPr/>
        </p:nvSpPr>
        <p:spPr>
          <a:xfrm>
            <a:off x="6309360" y="2971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Mobile App</a:t>
            </a:r>
            <a:endParaRPr lang="en-US" sz="1400" dirty="0"/>
          </a:p>
        </p:txBody>
      </p:sp>
      <p:sp>
        <p:nvSpPr>
          <p:cNvPr id="26" name="Module 6 body"/>
          <p:cNvSpPr txBox="1"/>
          <p:nvPr/>
        </p:nvSpPr>
        <p:spPr>
          <a:xfrm>
            <a:off x="6309360" y="3319272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Native Android shell with splash screen and session persistence.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Workflow &amp; Core Algorithms</a:t>
            </a:r>
            <a:endParaRPr lang="en-US" sz="2800" dirty="0"/>
          </a:p>
        </p:txBody>
      </p:sp>
      <p:sp>
        <p:nvSpPr>
          <p:cNvPr id="3" name="Lifecycle heading"/>
          <p:cNvSpPr txBox="1"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Appointment Lifecycle</a:t>
            </a:r>
            <a:endParaRPr lang="en-US" sz="1600" dirty="0"/>
          </a:p>
        </p:txBody>
      </p:sp>
      <p:sp>
        <p:nvSpPr>
          <p:cNvPr id="4" name="State Pending"/>
          <p:cNvSpPr/>
          <p:nvPr/>
        </p:nvSpPr>
        <p:spPr>
          <a:xfrm>
            <a:off x="457200" y="1508760"/>
            <a:ext cx="2194560" cy="594360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State label Pending"/>
          <p:cNvSpPr txBox="1"/>
          <p:nvPr/>
        </p:nvSpPr>
        <p:spPr>
          <a:xfrm>
            <a:off x="457200" y="15087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Pending</a:t>
            </a:r>
            <a:endParaRPr lang="en-US" sz="1500" dirty="0"/>
          </a:p>
        </p:txBody>
      </p:sp>
      <p:sp>
        <p:nvSpPr>
          <p:cNvPr id="6" name="State arrow 1"/>
          <p:cNvSpPr/>
          <p:nvPr/>
        </p:nvSpPr>
        <p:spPr>
          <a:xfrm>
            <a:off x="2697480" y="1805940"/>
            <a:ext cx="64008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7" name="State Accepted"/>
          <p:cNvSpPr/>
          <p:nvPr/>
        </p:nvSpPr>
        <p:spPr>
          <a:xfrm>
            <a:off x="3383280" y="1508760"/>
            <a:ext cx="2194560" cy="594360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State label Accepted"/>
          <p:cNvSpPr txBox="1"/>
          <p:nvPr/>
        </p:nvSpPr>
        <p:spPr>
          <a:xfrm>
            <a:off x="3383280" y="15087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Accepted</a:t>
            </a:r>
            <a:endParaRPr lang="en-US" sz="1500" dirty="0"/>
          </a:p>
        </p:txBody>
      </p:sp>
      <p:sp>
        <p:nvSpPr>
          <p:cNvPr id="9" name="State arrow 2"/>
          <p:cNvSpPr/>
          <p:nvPr/>
        </p:nvSpPr>
        <p:spPr>
          <a:xfrm>
            <a:off x="5623560" y="1805940"/>
            <a:ext cx="64008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0" name="State Completed"/>
          <p:cNvSpPr/>
          <p:nvPr/>
        </p:nvSpPr>
        <p:spPr>
          <a:xfrm>
            <a:off x="6309360" y="1508760"/>
            <a:ext cx="2194560" cy="594360"/>
          </a:xfrm>
          <a:prstGeom prst="roundRect">
            <a:avLst>
              <a:gd name="adj" fmla="val 1538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State label Completed"/>
          <p:cNvSpPr txBox="1"/>
          <p:nvPr/>
        </p:nvSpPr>
        <p:spPr>
          <a:xfrm>
            <a:off x="6309360" y="15087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Completed</a:t>
            </a:r>
            <a:endParaRPr lang="en-US" sz="1500" dirty="0"/>
          </a:p>
        </p:txBody>
      </p:sp>
      <p:sp>
        <p:nvSpPr>
          <p:cNvPr id="12" name="Lifecycle note"/>
          <p:cNvSpPr txBox="1"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Doctors may also Reject; patients may Cancel while Pending.</a:t>
            </a:r>
            <a:endParaRPr lang="en-US" sz="1150" dirty="0"/>
          </a:p>
        </p:txBody>
      </p:sp>
      <p:sp>
        <p:nvSpPr>
          <p:cNvPr id="13" name="Booking card"/>
          <p:cNvSpPr/>
          <p:nvPr/>
        </p:nvSpPr>
        <p:spPr>
          <a:xfrm>
            <a:off x="457200" y="2651760"/>
            <a:ext cx="4023360" cy="1874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ooking accent"/>
          <p:cNvSpPr/>
          <p:nvPr/>
        </p:nvSpPr>
        <p:spPr>
          <a:xfrm>
            <a:off x="457200" y="2651760"/>
            <a:ext cx="64008" cy="18745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Booking title"/>
          <p:cNvSpPr txBox="1"/>
          <p:nvPr/>
        </p:nvSpPr>
        <p:spPr>
          <a:xfrm>
            <a:off x="640080" y="27432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Booking Algorithm</a:t>
            </a:r>
            <a:endParaRPr lang="en-US" sz="1400" dirty="0"/>
          </a:p>
        </p:txBody>
      </p:sp>
      <p:sp>
        <p:nvSpPr>
          <p:cNvPr id="16" name="Booking body"/>
          <p:cNvSpPr txBox="1"/>
          <p:nvPr/>
        </p:nvSpPr>
        <p:spPr>
          <a:xfrm>
            <a:off x="640080" y="3090672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1. Patient picks doctor, date, time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2. Query: same patient + doctor + date with status pending/accepted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3. Duplicate found: warn and stop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4. Otherwise INSERT with status pending</a:t>
            </a:r>
            <a:endParaRPr lang="en-US" sz="1200" dirty="0"/>
          </a:p>
        </p:txBody>
      </p:sp>
      <p:sp>
        <p:nvSpPr>
          <p:cNvPr id="17" name="Login card"/>
          <p:cNvSpPr/>
          <p:nvPr/>
        </p:nvSpPr>
        <p:spPr>
          <a:xfrm>
            <a:off x="4663440" y="2651760"/>
            <a:ext cx="4023360" cy="1874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Login accent"/>
          <p:cNvSpPr/>
          <p:nvPr/>
        </p:nvSpPr>
        <p:spPr>
          <a:xfrm>
            <a:off x="4663440" y="2651760"/>
            <a:ext cx="64008" cy="18745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Login title"/>
          <p:cNvSpPr txBox="1"/>
          <p:nvPr/>
        </p:nvSpPr>
        <p:spPr>
          <a:xfrm>
            <a:off x="4846320" y="27432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Login Algorithm</a:t>
            </a:r>
            <a:endParaRPr lang="en-US" sz="1400" dirty="0"/>
          </a:p>
        </p:txBody>
      </p:sp>
      <p:sp>
        <p:nvSpPr>
          <p:cNvPr id="20" name="Login body"/>
          <p:cNvSpPr txBox="1"/>
          <p:nvPr/>
        </p:nvSpPr>
        <p:spPr>
          <a:xfrm>
            <a:off x="4846320" y="3090672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1. Select role and enter credentials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2. Query the matching table (prepared statement)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3. Verify with password_verify()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4. Store user_id and role in session, redirect to dashboard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Implementation &amp; Security</a:t>
            </a:r>
            <a:endParaRPr lang="en-US" sz="2800" dirty="0"/>
          </a:p>
        </p:txBody>
      </p:sp>
      <p:sp>
        <p:nvSpPr>
          <p:cNvPr id="3" name="Impl card"/>
          <p:cNvSpPr/>
          <p:nvPr/>
        </p:nvSpPr>
        <p:spPr>
          <a:xfrm>
            <a:off x="457200" y="1097280"/>
            <a:ext cx="4023360" cy="3429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mpl accent"/>
          <p:cNvSpPr/>
          <p:nvPr/>
        </p:nvSpPr>
        <p:spPr>
          <a:xfrm>
            <a:off x="457200" y="1097280"/>
            <a:ext cx="64008" cy="3429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Impl title"/>
          <p:cNvSpPr txBox="1"/>
          <p:nvPr/>
        </p:nvSpPr>
        <p:spPr>
          <a:xfrm>
            <a:off x="64008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Implementation Highlights</a:t>
            </a:r>
            <a:endParaRPr lang="en-US" sz="1400" dirty="0"/>
          </a:p>
        </p:txBody>
      </p:sp>
      <p:sp>
        <p:nvSpPr>
          <p:cNvPr id="6" name="Impl body"/>
          <p:cNvSpPr txBox="1"/>
          <p:nvPr/>
        </p:nvSpPr>
        <p:spPr>
          <a:xfrm>
            <a:off x="640080" y="1536192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7" name="Impl list"/>
          <p:cNvSpPr txBox="1"/>
          <p:nvPr/>
        </p:nvSpPr>
        <p:spPr>
          <a:xfrm>
            <a:off x="685800" y="155448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config.php: MySQLi connection, flash(), redirect(), checkRole() middleware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Foreign keys with ON DELETE CASCADE keep data consistent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Bootstrap modals for doctor CRUD without page reloads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Android MainActivity: JavaScript, DOM storage, back-button handling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CookieManager fix preserves PHP sessions in WebView</a:t>
            </a:r>
            <a:endParaRPr lang="en-US" sz="1250" dirty="0"/>
          </a:p>
        </p:txBody>
      </p:sp>
      <p:sp>
        <p:nvSpPr>
          <p:cNvPr id="8" name="Sec card"/>
          <p:cNvSpPr/>
          <p:nvPr/>
        </p:nvSpPr>
        <p:spPr>
          <a:xfrm>
            <a:off x="4663440" y="1097280"/>
            <a:ext cx="4023360" cy="3429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ec accent"/>
          <p:cNvSpPr/>
          <p:nvPr/>
        </p:nvSpPr>
        <p:spPr>
          <a:xfrm>
            <a:off x="4663440" y="1097280"/>
            <a:ext cx="64008" cy="34290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Sec title"/>
          <p:cNvSpPr txBox="1"/>
          <p:nvPr/>
        </p:nvSpPr>
        <p:spPr>
          <a:xfrm>
            <a:off x="484632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Security Measures</a:t>
            </a:r>
            <a:endParaRPr lang="en-US" sz="1400" dirty="0"/>
          </a:p>
        </p:txBody>
      </p:sp>
      <p:sp>
        <p:nvSpPr>
          <p:cNvPr id="11" name="Sec body"/>
          <p:cNvSpPr txBox="1"/>
          <p:nvPr/>
        </p:nvSpPr>
        <p:spPr>
          <a:xfrm>
            <a:off x="4846320" y="1536192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2" name="Sec list"/>
          <p:cNvSpPr txBox="1"/>
          <p:nvPr/>
        </p:nvSpPr>
        <p:spPr>
          <a:xfrm>
            <a:off x="4892040" y="155448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SQL injection: MySQLi prepared statements throughout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XSS: htmlspecialchars() on all user-generated output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Passwords: Bcrypt via password_hash / password_verify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Access control: role checks on every portal page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Safe state changes: updates restricted to the logged-in doctor's own records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Testing &amp; Analysis</a:t>
            </a:r>
            <a:endParaRPr lang="en-US" sz="2800" dirty="0"/>
          </a:p>
        </p:txBody>
      </p:sp>
      <p:sp>
        <p:nvSpPr>
          <p:cNvPr id="3" name="Stat card 1"/>
          <p:cNvSpPr/>
          <p:nvPr/>
        </p:nvSpPr>
        <p:spPr>
          <a:xfrm>
            <a:off x="457200" y="1097280"/>
            <a:ext cx="1965960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 accent 1"/>
          <p:cNvSpPr/>
          <p:nvPr/>
        </p:nvSpPr>
        <p:spPr>
          <a:xfrm>
            <a:off x="457200" y="1097280"/>
            <a:ext cx="1965960" cy="6400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Stat value 1"/>
          <p:cNvSpPr txBox="1"/>
          <p:nvPr/>
        </p:nvSpPr>
        <p:spPr>
          <a:xfrm>
            <a:off x="594360" y="12344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0</a:t>
            </a:r>
            <a:endParaRPr lang="en-US" sz="3400" dirty="0"/>
          </a:p>
        </p:txBody>
      </p:sp>
      <p:sp>
        <p:nvSpPr>
          <p:cNvPr id="6" name="Stat label 1"/>
          <p:cNvSpPr txBox="1"/>
          <p:nvPr/>
        </p:nvSpPr>
        <p:spPr>
          <a:xfrm>
            <a:off x="594360" y="18288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Scheduling conflicts (DB-level duplicate check)</a:t>
            </a:r>
            <a:endParaRPr lang="en-US" sz="1100" dirty="0"/>
          </a:p>
        </p:txBody>
      </p:sp>
      <p:sp>
        <p:nvSpPr>
          <p:cNvPr id="7" name="Stat card 2"/>
          <p:cNvSpPr/>
          <p:nvPr/>
        </p:nvSpPr>
        <p:spPr>
          <a:xfrm>
            <a:off x="2560320" y="1097280"/>
            <a:ext cx="1965960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at accent 2"/>
          <p:cNvSpPr/>
          <p:nvPr/>
        </p:nvSpPr>
        <p:spPr>
          <a:xfrm>
            <a:off x="2560320" y="1097280"/>
            <a:ext cx="196596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Stat value 2"/>
          <p:cNvSpPr txBox="1"/>
          <p:nvPr/>
        </p:nvSpPr>
        <p:spPr>
          <a:xfrm>
            <a:off x="2697480" y="12344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ms</a:t>
            </a:r>
            <a:endParaRPr lang="en-US" sz="3400" dirty="0"/>
          </a:p>
        </p:txBody>
      </p:sp>
      <p:sp>
        <p:nvSpPr>
          <p:cNvPr id="10" name="Stat label 2"/>
          <p:cNvSpPr txBox="1"/>
          <p:nvPr/>
        </p:nvSpPr>
        <p:spPr>
          <a:xfrm>
            <a:off x="2697480" y="18288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Record retrieval, versus minutes of register flipping</a:t>
            </a:r>
            <a:endParaRPr lang="en-US" sz="1100" dirty="0"/>
          </a:p>
        </p:txBody>
      </p:sp>
      <p:sp>
        <p:nvSpPr>
          <p:cNvPr id="11" name="Stat card 3"/>
          <p:cNvSpPr/>
          <p:nvPr/>
        </p:nvSpPr>
        <p:spPr>
          <a:xfrm>
            <a:off x="4663440" y="1097280"/>
            <a:ext cx="1965960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tat accent 3"/>
          <p:cNvSpPr/>
          <p:nvPr/>
        </p:nvSpPr>
        <p:spPr>
          <a:xfrm>
            <a:off x="4663440" y="1097280"/>
            <a:ext cx="1965960" cy="6400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Stat value 3"/>
          <p:cNvSpPr txBox="1"/>
          <p:nvPr/>
        </p:nvSpPr>
        <p:spPr>
          <a:xfrm>
            <a:off x="4800600" y="12344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3</a:t>
            </a:r>
            <a:endParaRPr lang="en-US" sz="3400" dirty="0"/>
          </a:p>
        </p:txBody>
      </p:sp>
      <p:sp>
        <p:nvSpPr>
          <p:cNvPr id="14" name="Stat label 3"/>
          <p:cNvSpPr txBox="1"/>
          <p:nvPr/>
        </p:nvSpPr>
        <p:spPr>
          <a:xfrm>
            <a:off x="4800600" y="18288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Roles: Patient, Doctor, Admin</a:t>
            </a:r>
            <a:endParaRPr lang="en-US" sz="1100" dirty="0"/>
          </a:p>
        </p:txBody>
      </p:sp>
      <p:sp>
        <p:nvSpPr>
          <p:cNvPr id="15" name="Stat card 4"/>
          <p:cNvSpPr/>
          <p:nvPr/>
        </p:nvSpPr>
        <p:spPr>
          <a:xfrm>
            <a:off x="6766560" y="1097280"/>
            <a:ext cx="1965960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tat accent 4"/>
          <p:cNvSpPr/>
          <p:nvPr/>
        </p:nvSpPr>
        <p:spPr>
          <a:xfrm>
            <a:off x="6766560" y="1097280"/>
            <a:ext cx="1965960" cy="6400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Stat value 4"/>
          <p:cNvSpPr txBox="1"/>
          <p:nvPr/>
        </p:nvSpPr>
        <p:spPr>
          <a:xfrm>
            <a:off x="6903720" y="12344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30</a:t>
            </a:r>
            <a:endParaRPr lang="en-US" sz="3400" dirty="0"/>
          </a:p>
        </p:txBody>
      </p:sp>
      <p:sp>
        <p:nvSpPr>
          <p:cNvPr id="18" name="Stat label 4"/>
          <p:cNvSpPr txBox="1"/>
          <p:nvPr/>
        </p:nvSpPr>
        <p:spPr>
          <a:xfrm>
            <a:off x="6903720" y="18288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Days of internship, from design to GitHub</a:t>
            </a:r>
            <a:endParaRPr lang="en-US" sz="1100" dirty="0"/>
          </a:p>
        </p:txBody>
      </p:sp>
      <p:sp>
        <p:nvSpPr>
          <p:cNvPr id="19" name="Analysis list"/>
          <p:cNvSpPr txBox="1"/>
          <p:nvPr/>
        </p:nvSpPr>
        <p:spPr>
          <a:xfrm>
            <a:off x="457200" y="283464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Functional: registration, login, filtering, booking and triage all passed, including edge cases (past dates, duplicate emails, wrong passwords)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Security: SQL injection and XSS attempts were neutralized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Usability: responsive on desktop, tablet and mobile; WebView sessions persist after the cookie fix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Admins gain real-time visibility into hospital operations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Conclusion &amp; Future Work</a:t>
            </a:r>
            <a:endParaRPr lang="en-US" sz="2800" dirty="0"/>
          </a:p>
        </p:txBody>
      </p:sp>
      <p:sp>
        <p:nvSpPr>
          <p:cNvPr id="3" name="Conclusion card"/>
          <p:cNvSpPr/>
          <p:nvPr/>
        </p:nvSpPr>
        <p:spPr>
          <a:xfrm>
            <a:off x="457200" y="1097280"/>
            <a:ext cx="4023360" cy="2240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onclusion accent"/>
          <p:cNvSpPr/>
          <p:nvPr/>
        </p:nvSpPr>
        <p:spPr>
          <a:xfrm>
            <a:off x="457200" y="1097280"/>
            <a:ext cx="64008" cy="22402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Conclusion title"/>
          <p:cNvSpPr txBox="1"/>
          <p:nvPr/>
        </p:nvSpPr>
        <p:spPr>
          <a:xfrm>
            <a:off x="64008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Conclusion</a:t>
            </a:r>
            <a:endParaRPr lang="en-US" sz="1400" dirty="0"/>
          </a:p>
        </p:txBody>
      </p:sp>
      <p:sp>
        <p:nvSpPr>
          <p:cNvPr id="6" name="Conclusion body"/>
          <p:cNvSpPr txBox="1"/>
          <p:nvPr/>
        </p:nvSpPr>
        <p:spPr>
          <a:xfrm>
            <a:off x="640080" y="1536192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Clinix shows how full-stack technologies can modernize hospital operations: less admin overhead, fewer scheduling errors and a better experience for patients and doctors. I gained hands-on skills in PHP, database design, sessions, XSS prevention and Android integration.</a:t>
            </a:r>
            <a:endParaRPr lang="en-US" sz="1200" dirty="0"/>
          </a:p>
        </p:txBody>
      </p:sp>
      <p:sp>
        <p:nvSpPr>
          <p:cNvPr id="7" name="Future heading"/>
          <p:cNvSpPr txBox="1"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Future Work</a:t>
            </a:r>
            <a:endParaRPr lang="en-US" sz="1600" dirty="0"/>
          </a:p>
        </p:txBody>
      </p:sp>
      <p:sp>
        <p:nvSpPr>
          <p:cNvPr id="8" name="Future list"/>
          <p:cNvSpPr txBox="1"/>
          <p:nvPr/>
        </p:nvSpPr>
        <p:spPr>
          <a:xfrm>
            <a:off x="4754880" y="1508760"/>
            <a:ext cx="3931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Migrate to an MVC framework (Laravel / CodeIgniter)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REST API for a Flutter / React Native app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Payment gateway (Razorpay / Stripe)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Digital PDF prescriptions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Email / SMS reminders (PHPMailer, Twilio)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Cloud deployment on AWS / Azure</a:t>
            </a:r>
            <a:endParaRPr lang="en-US" sz="1250" dirty="0"/>
          </a:p>
        </p:txBody>
      </p:sp>
      <p:sp>
        <p:nvSpPr>
          <p:cNvPr id="9" name="Thanks band"/>
          <p:cNvSpPr/>
          <p:nvPr/>
        </p:nvSpPr>
        <p:spPr>
          <a:xfrm>
            <a:off x="457200" y="3611880"/>
            <a:ext cx="8229600" cy="9144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hanks text"/>
          <p:cNvSpPr txBox="1"/>
          <p:nvPr/>
        </p:nvSpPr>
        <p:spPr>
          <a:xfrm>
            <a:off x="731520" y="36118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Thank you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Questions are welcome  |  Bhavadharani B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inix">
  <a:themeElements>
    <a:clrScheme name="Clinix">
      <a:dk1>
        <a:srgbClr val="1B2A41"/>
      </a:dk1>
      <a:lt1>
        <a:srgbClr val="FFFFFF"/>
      </a:lt1>
      <a:dk2>
        <a:srgbClr val="0B3C5D"/>
      </a:dk2>
      <a:lt2>
        <a:srgbClr val="EEF3F8"/>
      </a:lt2>
      <a:accent1>
        <a:srgbClr val="1D7FBF"/>
      </a:accent1>
      <a:accent2>
        <a:srgbClr val="14A38B"/>
      </a:accent2>
      <a:accent3>
        <a:srgbClr val="F2A541"/>
      </a:accent3>
      <a:accent4>
        <a:srgbClr val="6C5CE7"/>
      </a:accent4>
      <a:accent5>
        <a:srgbClr val="E4572E"/>
      </a:accent5>
      <a:accent6>
        <a:srgbClr val="5C6B7A"/>
      </a:accent6>
      <a:hlink>
        <a:srgbClr val="1D7FBF"/>
      </a:hlink>
      <a:folHlink>
        <a:srgbClr val="6C5CE7"/>
      </a:folHlink>
    </a:clrScheme>
    <a:fontScheme name="Clinix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Clinix – Hospital Management System</dc:title>
  <dc:subject>PptxGenJS Presentation</dc:subject>
  <dc:creator>Bhavadharani B</dc:creator>
  <cp:lastModifiedBy>Bhavadharani B</cp:lastModifiedBy>
  <cp:revision>1</cp:revision>
  <dcterms:created xsi:type="dcterms:W3CDTF">2026-10-21T16:38:29Z</dcterms:created>
  <dcterms:modified xsi:type="dcterms:W3CDTF">2026-10-21T16:38:29Z</dcterms:modified>
</cp:coreProperties>
</file>